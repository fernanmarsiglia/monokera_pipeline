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3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3898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SpaceNews Data Pipeline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31520" y="2971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• Procesamiento (Spark/Glue) • DWH (Redshift) • Observabilidad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794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documentación técnica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5303520"/>
            <a:ext cx="4389120" cy="64008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2232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005840" y="5440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 Marsiglia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11A2E"/>
          </a:solidFill>
          <a:ln w="12700">
            <a:solidFill>
              <a:srgbClr val="11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general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5394960" cy="539496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23257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914400" y="1261872"/>
            <a:ext cx="73152" cy="310896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042416" y="12070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construyó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42416" y="1773936"/>
            <a:ext cx="48463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end-to-end: API → S3 (Bronze/Silver/Gold) → Redshift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Spark en Glue: clean/dedup, enrich, trends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 con Airflow (DAG con dependencias y retries)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Observabilidad: logs, quarantine, alertas SNS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al DWH: COPY + MERGE/Upsert con trazabilidad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09360" y="1097280"/>
            <a:ext cx="5074920" cy="539496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23257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6583680" y="1261872"/>
            <a:ext cx="73152" cy="310896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711696" y="1207008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vas a ver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711696" y="1773936"/>
            <a:ext cx="45262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AWS y flujo lógico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S3 por capas y particionamiento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DWH (core/ref/rel/agg/meta)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datos y manejo de fallos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y operación (backfill/reproceso)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11A2E"/>
          </a:solidFill>
          <a:ln w="12700">
            <a:solidFill>
              <a:srgbClr val="11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AWS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+ servicios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6858000" cy="553212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23257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6" name="Image 0" descr="/mnt/data/aws_architectu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25182"/>
            <a:ext cx="6583680" cy="359402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26680" y="1051560"/>
            <a:ext cx="3730752" cy="553212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23257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Shape 5"/>
          <p:cNvSpPr/>
          <p:nvPr/>
        </p:nvSpPr>
        <p:spPr>
          <a:xfrm>
            <a:off x="7909560" y="1216152"/>
            <a:ext cx="73152" cy="310896"/>
          </a:xfrm>
          <a:prstGeom prst="rect">
            <a:avLst/>
          </a:prstGeom>
          <a:solidFill>
            <a:srgbClr val="39D98A"/>
          </a:solidFill>
          <a:ln w="12700">
            <a:solidFill>
              <a:srgbClr val="39D98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8037576" y="1161288"/>
            <a:ext cx="3182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Claves de diseño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37576" y="1728216"/>
            <a:ext cx="3182112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orquesta y dispara Glue + cargas al DWH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como data lake (histórico + reprocesos)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ejecuta Spark distribuido (3 etapas)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Redshift Serverless para consumo analítico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para alertas de éxito/falla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11A2E"/>
          </a:solidFill>
          <a:ln w="12700">
            <a:solidFill>
              <a:srgbClr val="11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del pipeline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API a BI-ready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1457432" cy="553212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23257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6" name="Image 0" descr="/mnt/data/pipeline_flo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913" y="1170432"/>
            <a:ext cx="9715214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11A2E"/>
          </a:solidFill>
          <a:ln w="12700">
            <a:solidFill>
              <a:srgbClr val="11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 en S3 (Bronze / Silver / Gold)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Particiones por ingest_date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5669280" cy="553212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23257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6" name="Image 0" descr="/mnt/data/8899033f-20d4-4cd2-ac87-7b1d1e54c3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18132"/>
            <a:ext cx="5394960" cy="4008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83680" y="1051560"/>
            <a:ext cx="4690872" cy="187452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23257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Shape 5"/>
          <p:cNvSpPr/>
          <p:nvPr/>
        </p:nvSpPr>
        <p:spPr>
          <a:xfrm>
            <a:off x="6766560" y="1216152"/>
            <a:ext cx="73152" cy="310896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6894576" y="1161288"/>
            <a:ext cx="4142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94576" y="1728216"/>
            <a:ext cx="414223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inmutable por endpoint (articles/blogs/reports/info)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Trazabilidad: ingest_date + metadata de corrida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583680" y="3063240"/>
            <a:ext cx="4690872" cy="187452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23257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9"/>
          <p:cNvSpPr/>
          <p:nvPr/>
        </p:nvSpPr>
        <p:spPr>
          <a:xfrm>
            <a:off x="6766560" y="3227832"/>
            <a:ext cx="73152" cy="310896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6894576" y="3172968"/>
            <a:ext cx="4142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894576" y="3739896"/>
            <a:ext cx="414223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limpio: schema conformed + deduplicación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 separado con error_reason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583680" y="5074920"/>
            <a:ext cx="4690872" cy="150876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23257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3"/>
          <p:cNvSpPr/>
          <p:nvPr/>
        </p:nvSpPr>
        <p:spPr>
          <a:xfrm>
            <a:off x="6766560" y="5239512"/>
            <a:ext cx="73152" cy="310896"/>
          </a:xfrm>
          <a:prstGeom prst="rect">
            <a:avLst/>
          </a:prstGeom>
          <a:solidFill>
            <a:srgbClr val="39D98A"/>
          </a:solidFill>
          <a:ln w="12700">
            <a:solidFill>
              <a:srgbClr val="39D98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4"/>
          <p:cNvSpPr/>
          <p:nvPr/>
        </p:nvSpPr>
        <p:spPr>
          <a:xfrm>
            <a:off x="6894576" y="5184648"/>
            <a:ext cx="4142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894576" y="5751576"/>
            <a:ext cx="41422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Enriched (keywords/entities/topics) + trends mensuales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 COPY/MERGE a Redshift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11A2E"/>
          </a:solidFill>
          <a:ln w="12700">
            <a:solidFill>
              <a:srgbClr val="11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(AWS Glue / Spark)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jobs secuenciales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5669280" cy="553212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23257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6" name="Image 0" descr="/mnt/data/e5fda5ea-56d6-4cfd-bdfc-d48428e376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74012"/>
            <a:ext cx="5394960" cy="3896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83680" y="1051560"/>
            <a:ext cx="4690872" cy="173736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23257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Shape 5"/>
          <p:cNvSpPr/>
          <p:nvPr/>
        </p:nvSpPr>
        <p:spPr>
          <a:xfrm>
            <a:off x="6766560" y="1216152"/>
            <a:ext cx="73152" cy="310896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6894576" y="1161288"/>
            <a:ext cx="4142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01 – Clean &amp; Dedup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94576" y="1728216"/>
            <a:ext cx="41422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 schema, parsea timestamps, valida campos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por (content_type,id) y fallback url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 con error_reason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583680" y="2880360"/>
            <a:ext cx="4690872" cy="173736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23257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9"/>
          <p:cNvSpPr/>
          <p:nvPr/>
        </p:nvSpPr>
        <p:spPr>
          <a:xfrm>
            <a:off x="6766560" y="3044952"/>
            <a:ext cx="73152" cy="310896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6894576" y="2990088"/>
            <a:ext cx="4142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02 – Enrich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894576" y="3557016"/>
            <a:ext cx="41422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(tokenización simple)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(diccionario/regex)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classification por reglas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583680" y="4709160"/>
            <a:ext cx="4690872" cy="187452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23257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3"/>
          <p:cNvSpPr/>
          <p:nvPr/>
        </p:nvSpPr>
        <p:spPr>
          <a:xfrm>
            <a:off x="6766560" y="4873752"/>
            <a:ext cx="73152" cy="310896"/>
          </a:xfrm>
          <a:prstGeom prst="rect">
            <a:avLst/>
          </a:prstGeom>
          <a:solidFill>
            <a:srgbClr val="39D98A"/>
          </a:solidFill>
          <a:ln w="12700">
            <a:solidFill>
              <a:srgbClr val="39D98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4"/>
          <p:cNvSpPr/>
          <p:nvPr/>
        </p:nvSpPr>
        <p:spPr>
          <a:xfrm>
            <a:off x="6894576" y="4818888"/>
            <a:ext cx="4142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03 – Trends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894576" y="5385816"/>
            <a:ext cx="414223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Agregaciones mensuales: topic y news_site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Particiones year_month + ingest_date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Cache/persist cuando reutiliza el dataset filtrado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11A2E"/>
          </a:solidFill>
          <a:ln w="12700">
            <a:solidFill>
              <a:srgbClr val="11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(Redshift Serverless)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core.* y cargas idempotentes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5760720" cy="301752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23257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914400" y="1216152"/>
            <a:ext cx="73152" cy="310896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042416" y="116128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principal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2416" y="1728216"/>
            <a:ext cx="5212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core.content_items (principal)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clave: content_type, source_system, content_id, url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Trazabilidad: ingest_date, ingest_run_id, record_hash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4251960"/>
            <a:ext cx="5760720" cy="233172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23257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914400" y="4416552"/>
            <a:ext cx="73152" cy="310896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1042416" y="436168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Derivadas y consumo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42416" y="4928616"/>
            <a:ext cx="52120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core.ref_* (catálogos): news_sites, topics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core.rel_* (relaciones): authors/launches/events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core.agg_* (marts): trends por mes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core.meta_* (auditoría): runs, quality checks, api info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1051560"/>
            <a:ext cx="4572000" cy="553212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23257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6949440" y="1216152"/>
            <a:ext cx="73152" cy="310896"/>
          </a:xfrm>
          <a:prstGeom prst="rect">
            <a:avLst/>
          </a:prstGeom>
          <a:solidFill>
            <a:srgbClr val="39D98A"/>
          </a:solidFill>
          <a:ln w="12700">
            <a:solidFill>
              <a:srgbClr val="39D98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7077456" y="116128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 / MERGE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77456" y="1728216"/>
            <a:ext cx="402336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Gold → staging (stg_content_items)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 defensivo en staging (row_number)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a core.content_items por (content_type, content_id)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si record_hash cambia o updated_at es más nuevo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Refresco por partición para agg_* y rel_* (DELETE+COPY)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11A2E"/>
          </a:solidFill>
          <a:ln w="12700">
            <a:solidFill>
              <a:srgbClr val="11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Calidad, fallos y observabilidad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hace que esto sea “operable”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5760720" cy="274320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23257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914400" y="1216152"/>
            <a:ext cx="73152" cy="310896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042416" y="116128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datos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2416" y="1728216"/>
            <a:ext cx="5212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campos obligatorios (id/url/title/timestamps)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 con error_reason (accionable)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Métricas: conteos Bronze→Silver→Gold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977640"/>
            <a:ext cx="5760720" cy="260604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23257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914400" y="4142232"/>
            <a:ext cx="73152" cy="310896"/>
          </a:xfrm>
          <a:prstGeom prst="rect">
            <a:avLst/>
          </a:prstGeom>
          <a:solidFill>
            <a:srgbClr val="FF9F43"/>
          </a:solidFill>
          <a:ln w="12700">
            <a:solidFill>
              <a:srgbClr val="FF9F4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1042416" y="408736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Resiliencia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42416" y="4654296"/>
            <a:ext cx="52120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con backoff (Airflow + client API)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handling (429) + jitter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Reproceso por ingest_date / backfill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1051560"/>
            <a:ext cx="4572000" cy="553212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23257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6949440" y="1216152"/>
            <a:ext cx="73152" cy="310896"/>
          </a:xfrm>
          <a:prstGeom prst="rect">
            <a:avLst/>
          </a:prstGeom>
          <a:solidFill>
            <a:srgbClr val="39D98A"/>
          </a:solidFill>
          <a:ln w="12700">
            <a:solidFill>
              <a:srgbClr val="39D98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7077456" y="116128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&amp; Alertas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77456" y="1728216"/>
            <a:ext cx="402336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estructurados (correlation_id / run_id)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logs para Glue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SNS: éxito/falla + resumen top topics/sources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en S3 (insights/)</a:t>
            </a:r>
            <a:endParaRPr lang="en-US" sz="1200" dirty="0"/>
          </a:p>
        </p:txBody>
      </p:sp>
      <p:sp>
        <p:nvSpPr>
          <p:cNvPr id="17" name="AutoShape 2">
            <a:extLst>
              <a:ext uri="{FF2B5EF4-FFF2-40B4-BE49-F238E27FC236}">
                <a16:creationId xmlns:a16="http://schemas.microsoft.com/office/drawing/2014/main" id="{45B93BE1-5489-0F31-AD9E-9B91D1EC87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468880" cy="2468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D2CE52FB-6662-827D-3CF9-8D4707E6C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4507" y="2742206"/>
            <a:ext cx="1893490" cy="34218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11A2E"/>
          </a:solidFill>
          <a:ln w="12700">
            <a:solidFill>
              <a:srgbClr val="11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en AWS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+ scripts + jobs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3703320" cy="553212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232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6" name="Image 0" descr="/mnt/data/578585dc-c3ec-48e3-8b86-4a9b37362e5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41289"/>
            <a:ext cx="3429000" cy="22991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17720" y="1051560"/>
            <a:ext cx="3703320" cy="553212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232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5"/>
          <p:cNvSpPr/>
          <p:nvPr/>
        </p:nvSpPr>
        <p:spPr>
          <a:xfrm>
            <a:off x="8503920" y="1051560"/>
            <a:ext cx="2770632" cy="553212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2325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0" name="Image 2" descr="/mnt/data/e5fda5ea-56d6-4cfd-bdfc-d48428e376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0" y="2920746"/>
            <a:ext cx="2496312" cy="18028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960" y="66019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 (prefijos)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709160" y="66019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Esquemas</a:t>
            </a:r>
            <a:r>
              <a:rPr lang="en-US" sz="11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Redshift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8549640" y="66019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jobs</a:t>
            </a:r>
            <a:endParaRPr lang="en-US" sz="11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A487E505-1B38-858F-7076-3D95328138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2490883"/>
            <a:ext cx="3520440" cy="239253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E4B18A37-2312-BA48-DD89-A308323275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880955"/>
            <a:ext cx="3355066" cy="19254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11A2E"/>
          </a:solidFill>
          <a:ln w="12700">
            <a:solidFill>
              <a:srgbClr val="11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412480" y="182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y próximos pasos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5760720" cy="553212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23257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914400" y="1216152"/>
            <a:ext cx="73152" cy="310896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042416" y="116128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opera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2416" y="1728216"/>
            <a:ext cx="521208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diaria por ingest_date (re-run seguro)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Backfill por rango de fechas (histórico)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SNS y logs para troubleshooting rápido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control: procesar particiones, DPUs bajos, borrar recursos al finalizar demo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766560" y="1051560"/>
            <a:ext cx="4572000" cy="5532120"/>
          </a:xfrm>
          <a:prstGeom prst="roundRect">
            <a:avLst/>
          </a:prstGeom>
          <a:solidFill>
            <a:srgbClr val="0F1730"/>
          </a:solidFill>
          <a:ln w="12700">
            <a:solidFill>
              <a:srgbClr val="223257"/>
            </a:solidFill>
            <a:prstDash val="solid"/>
          </a:ln>
          <a:effectLst>
            <a:outerShdw blurRad="381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6949440" y="1216152"/>
            <a:ext cx="73152" cy="310896"/>
          </a:xfrm>
          <a:prstGeom prst="rect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7077456" y="116128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posibles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77456" y="1728216"/>
            <a:ext cx="402336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gestionado (MWAA) o ECS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least-privilege por servicio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contracts + validación formal (GE/dbt tests)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Compaction/OPTIMIZE de Parquet + vacuum/analyze en Redshift</a:t>
            </a:r>
            <a:endParaRPr lang="en-US" sz="12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B8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y lineage (Glue Catalog/LF)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739</Words>
  <Application>Microsoft Macintosh PowerPoint</Application>
  <PresentationFormat>Panorámica</PresentationFormat>
  <Paragraphs>113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Fernan Marsiglia</dc:creator>
  <cp:lastModifiedBy>Vanessa Maria Espinosa Cano</cp:lastModifiedBy>
  <cp:revision>2</cp:revision>
  <dcterms:created xsi:type="dcterms:W3CDTF">2026-02-18T07:45:45Z</dcterms:created>
  <dcterms:modified xsi:type="dcterms:W3CDTF">2026-02-18T07:59:29Z</dcterms:modified>
</cp:coreProperties>
</file>